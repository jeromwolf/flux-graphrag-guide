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914400"/>
            <a:ext cx="2011680" cy="320040"/>
          </a:xfrm>
          <a:prstGeom prst="rect">
            <a:avLst>
              <a:gd name="adj" fmla="val 8571"/>
            </a:avLst>
          </a:prstGeom>
          <a:solidFill>
            <a:srgbClr val="06D6A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7  ·  기초  ⭐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왜 GraphRAG인가?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+ GraphRAG 실무 완성 과정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</a:rPr>
              <a:t>⏱ 2시간    </a:t>
            </a:r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</a:rPr>
              <a:t>🎯 Neo4j에 첫 그래프 생성    </a:t>
            </a:r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</a:rPr>
              <a:t>💡 "일단 해보기"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Bricks Co., Ltd.  ·  깊이가 곧 가치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4630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 질문에 답할 수 있나요?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863840" cy="1463040"/>
          </a:xfrm>
          <a:prstGeom prst="rect">
            <a:avLst/>
          </a:prstGeom>
          <a:solidFill>
            <a:srgbClr val="1A223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54864" cy="14630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544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삼성전자에 투자한 기관 중에서,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기관이 투자한 다른 반도체 기업은 뭐가 있어?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3749040" cy="1097280"/>
          </a:xfrm>
          <a:prstGeom prst="rect">
            <a:avLst/>
          </a:prstGeom>
          <a:solidFill>
            <a:srgbClr val="1C1C2E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RAG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답변 불가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청크 간 관계를 연결할 수 없음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3291840"/>
            <a:ext cx="3749040" cy="1097280"/>
          </a:xfrm>
          <a:prstGeom prst="rect">
            <a:avLst/>
          </a:prstGeom>
          <a:solidFill>
            <a:srgbClr val="0D1F1A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37033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정확한 답변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관계를 따라가며 Multi-hop 추론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벡터 RAG의 구조적 한계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청크 기반 맥락 단절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200400" cy="1371600"/>
          </a:xfrm>
          <a:prstGeom prst="rect">
            <a:avLst/>
          </a:prstGeom>
          <a:solidFill>
            <a:srgbClr val="1A223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8A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 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 ← 국민연금 투자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(지분 9.8% 보유)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0" y="18288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✂️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93192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단절!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1463040"/>
            <a:ext cx="3200400" cy="1371600"/>
          </a:xfrm>
          <a:prstGeom prst="rect">
            <a:avLst/>
          </a:prstGeom>
          <a:solidFill>
            <a:srgbClr val="1A223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8A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 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94960" y="187452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국민연금 → SK하이닉스 투자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(지분 7.2% 보유)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7863840" cy="1280160"/>
          </a:xfrm>
          <a:prstGeom prst="rect">
            <a:avLst/>
          </a:prstGeom>
          <a:solidFill>
            <a:srgbClr val="1A0A0E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200400"/>
            <a:ext cx="54864" cy="1280160"/>
          </a:xfrm>
          <a:prstGeom prst="rect">
            <a:avLst/>
          </a:prstGeom>
          <a:solidFill>
            <a:srgbClr val="EF476F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42900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63040" y="33375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RAG는 각 청크를 독립적으로 임베딩합니다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463040" y="37490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A의 "국민연금"과 Chunk B의 "국민연금"이 같은 엔티티라는 연결이 사라짐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"삼성전자 투자기관의 다른 투자처"를 추론하는 것이 구조적으로 불가능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판단 기준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solidFill>
            <a:srgbClr val="06D6A0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144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"1-hop이면 벡터로 충분하다. Multi-hop이 필요하니까 GraphRAG를 쓰는 것"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863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743200"/>
                <a:gridCol w="15544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질문 유형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벡터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1-hop (단일 사실)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삼성전자 2024년 매출은?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충분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가능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2-hop (관계 1단계)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삼성전자의 파트너사는?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운 좋으면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정확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Multi-hop (2단계+)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삼성 투자기관의 다른 투자처?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불가능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핵심 강점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비교/집계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반도체 기업 공통 투자자 Top3?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불가능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Cypher 쿼리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여러분 프로젝트에서 Multi-hop 질문이 필요한가? → 그게 첫 번째 판단 기준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GraphRAG 도입 판단 5단계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"GraphRAG부터 시작하지 마라. 문제 정의부터 하라."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02920" cy="45720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특성 파악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보험/법률 = 관계 중요, ROI 검토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240280"/>
            <a:ext cx="502920" cy="45720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402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분류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임베딩 vs 관계 중요 → 선별적 적용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69748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880360"/>
            <a:ext cx="502920" cy="45720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80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 (기획)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2880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"원인"과 "관계"가 우선인지 확인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33756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520440"/>
            <a:ext cx="502920" cy="45720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5204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케이스 추적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0" y="3520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RAG 리트리벌 실패 → 그래프 시각화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97764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160520"/>
            <a:ext cx="502920" cy="45720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605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4160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스키마 셋업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0" y="4160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명확 → 온톨로지 설계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solidFill>
            <a:srgbClr val="06D6A0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5720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가장 중요: 초기 인터뷰 — 현업이 뭘 원하는지 먼저 파악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3가지 GraphRAG 경험 유형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560320" cy="3474720"/>
          </a:xfrm>
          <a:prstGeom prst="rect">
            <a:avLst/>
          </a:prstGeom>
          <a:solidFill>
            <a:srgbClr val="1A223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256032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Domain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방식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&amp; Graph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과제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인프라 구축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→ 그래프 변환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3840480"/>
            <a:ext cx="1645920" cy="365760"/>
          </a:xfrm>
          <a:prstGeom prst="rect">
            <a:avLst/>
          </a:prstGeom>
          <a:solidFill>
            <a:srgbClr val="06D6A0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1~3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1005840"/>
            <a:ext cx="2560320" cy="3474720"/>
          </a:xfrm>
          <a:prstGeom prst="rect">
            <a:avLst/>
          </a:prstGeom>
          <a:solidFill>
            <a:srgbClr val="1A223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1005840"/>
            <a:ext cx="2560320" cy="54864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Domain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방식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2057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only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2560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과제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0" y="2788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Graph?" 설득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엔지니어링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31920" y="3840480"/>
            <a:ext cx="1645920" cy="365760"/>
          </a:xfrm>
          <a:prstGeom prst="rect">
            <a:avLst/>
          </a:prstGeom>
          <a:solidFill>
            <a:srgbClr val="118AB2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8A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4~5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1005840"/>
            <a:ext cx="2560320" cy="3474720"/>
          </a:xfrm>
          <a:prstGeom prst="rect">
            <a:avLst/>
          </a:prstGeom>
          <a:solidFill>
            <a:srgbClr val="1A223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1005840"/>
            <a:ext cx="2560320" cy="54864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Document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9224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방식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2057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&amp; Graph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2560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과제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92240" y="2788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(Evaluation)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66560" y="3840480"/>
            <a:ext cx="1645920" cy="365760"/>
          </a:xfrm>
          <a:prstGeom prst="rect">
            <a:avLst/>
          </a:prstGeom>
          <a:solidFill>
            <a:srgbClr val="8338EC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33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6~7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온톨로지 = 합의의 도구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7863840" cy="640080"/>
          </a:xfrm>
          <a:prstGeom prst="rect">
            <a:avLst/>
          </a:prstGeom>
          <a:solidFill>
            <a:srgbClr val="8338EC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"도메인 전문가들이 합의한 개념의 지도"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3657600" cy="914400"/>
          </a:xfrm>
          <a:prstGeom prst="rect">
            <a:avLst/>
          </a:prstGeom>
          <a:solidFill>
            <a:srgbClr val="1A223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"고객" = 잠재고객, 웹 방문자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76F"/>
                </a:solidFill>
              </a:rPr>
              <a:t>≠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846320" y="2194560"/>
            <a:ext cx="3657600" cy="914400"/>
          </a:xfrm>
          <a:prstGeom prst="rect">
            <a:avLst/>
          </a:prstGeom>
          <a:solidFill>
            <a:srgbClr val="1A223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2514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"고객" = 계약고객, 매출 발생자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74720"/>
          <a:ext cx="7863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3774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33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도메인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33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합의 필요성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33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난이도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소셜네트워크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거의 없음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제조/통신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높음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금융/보험/법률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매우 높음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 스키마 vs Labeled Property Graph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1A223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 (관계형 DB)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p.name, c.name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persons 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employment e ON ...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companies c ON ...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테이블 3개 + JOIN 연쇄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0D1F1A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(그래프 DB — Cypher)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55448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(p:Person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{name:'홍길동'})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-[:WORKS_AT]-&gt;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(c:Company)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p.name, c.name;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관계를 직접 표현 → 직관적 + 고성능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LPG에서는 관계가 1급 시민 — 이름을 붙이고, 속성도 달 수 있다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6개 레이어 프레임워크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463040" cy="1645920"/>
          </a:xfrm>
          <a:prstGeom prst="rect">
            <a:avLst/>
          </a:prstGeom>
          <a:solidFill>
            <a:srgbClr val="1A223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146304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20240" y="1828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48840" y="1280160"/>
            <a:ext cx="1463040" cy="1645920"/>
          </a:xfrm>
          <a:prstGeom prst="rect">
            <a:avLst/>
          </a:prstGeom>
          <a:solidFill>
            <a:srgbClr val="1A223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48840" y="1280160"/>
            <a:ext cx="1463040" cy="54864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417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4884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8A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2~5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11880" y="1828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0480" y="1280160"/>
            <a:ext cx="1463040" cy="1645920"/>
          </a:xfrm>
          <a:prstGeom prst="rect">
            <a:avLst/>
          </a:prstGeom>
          <a:solidFill>
            <a:srgbClr val="1A223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0" y="1280160"/>
            <a:ext cx="1463040" cy="54864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1417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33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1,7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0" y="1828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32120" y="1280160"/>
            <a:ext cx="1463040" cy="1645920"/>
          </a:xfrm>
          <a:prstGeom prst="rect">
            <a:avLst/>
          </a:prstGeom>
          <a:solidFill>
            <a:srgbClr val="1A223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32120" y="1280160"/>
            <a:ext cx="1463040" cy="54864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22" name="Text 20"/>
          <p:cNvSpPr/>
          <p:nvPr/>
        </p:nvSpPr>
        <p:spPr>
          <a:xfrm>
            <a:off x="5532120" y="1417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95160" y="1828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23760" y="1280160"/>
            <a:ext cx="1463040" cy="1645920"/>
          </a:xfrm>
          <a:prstGeom prst="rect">
            <a:avLst/>
          </a:prstGeom>
          <a:solidFill>
            <a:srgbClr val="1A223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23760" y="1280160"/>
            <a:ext cx="1463040" cy="5486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1417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2376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6,7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EF476F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 유의미하지 않으면 L1 Strategy부터 재검토 (피드백 루프)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만들고 끝이 아니다. 계속 돌면서 개선하는 구조.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왜 Neo4j인가 — 한 줄 요약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280160"/>
            <a:ext cx="9144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0" y="2377440"/>
            <a:ext cx="6400800" cy="640080"/>
          </a:xfrm>
          <a:prstGeom prst="rect">
            <a:avLst/>
          </a:prstGeom>
          <a:solidFill>
            <a:srgbClr val="06D6A0">
              <a:alpha val="1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2377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생태계 1위  +  LangChain 연동 최고  +  GraphRAG에 최적화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3291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DB-engines 그래프 부문 부동의 1위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2880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LangChain / LlamaIndex 공식 연동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828800" y="4023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get_neighbors O(d) — 이웃 탐색 상수 시간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828800" y="4389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LPG 기반, 프로퍼티 저장·인덱싱 모두 지원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solidFill>
            <a:srgbClr val="1A2234"/>
          </a:solidFill>
          <a:ln/>
        </p:spPr>
      </p:sp>
      <p:sp>
        <p:nvSpPr>
          <p:cNvPr id="13" name="Text 10"/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Kùzu, FalkorDB 등 비교는 Part 7에서 심화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실습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Docker로 Neo4j 띄우기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80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8A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5029200" cy="25603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92024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neo4j: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neo4j:5.26-community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"7474:7474"  # Browser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"7687:7687"  # Bolt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NEO4J_AUTH=neo4j/graphrag2025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035040" y="1828800"/>
            <a:ext cx="2743200" cy="2560320"/>
          </a:xfrm>
          <a:prstGeom prst="rect">
            <a:avLst/>
          </a:prstGeom>
          <a:solidFill>
            <a:srgbClr val="1A223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504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순서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0" y="22860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❶ docker compose up -d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❷ localhost:7474 접속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❸ neo4j / graphrag2025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❹ :server status 확인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Cypher 기초 — 노드 &amp; 관계 만들기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32004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노드 생성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(c:Company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'삼성전자',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industry: '반도체/IT',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founded: 1969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Person 노드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(p:Person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'이재용',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role: '회장'});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32004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914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관계 생성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12801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(p:Person {name:'이재용'}),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(c:Company {name:'삼성전자'})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(p)-[:LEADS]-&gt;(c);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투자 관계 (속성 포함)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(i:Investor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{name:'국민연금'}),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(c:Company {name:'삼성전자'})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(i)-[:INVESTED_IN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{share: 9.8}]-&gt;(c);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1A223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문법:  (  ) = 노드  ·  :Label = 타입  ·  { } = 프로퍼티  ·  -[:REL]-&gt; = 관계 (방향 있음)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하이라이트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Multi-hop 쿼리 — 이게 왜 강력한지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463040" cy="594360"/>
          </a:xfrm>
          <a:prstGeom prst="rect">
            <a:avLst/>
          </a:prstGeom>
          <a:solidFill>
            <a:srgbClr val="1A223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515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94560" y="1143000"/>
            <a:ext cx="1463040" cy="411480"/>
          </a:xfrm>
          <a:prstGeom prst="rect">
            <a:avLst/>
          </a:prstGeom>
          <a:solidFill>
            <a:srgbClr val="FFD166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1430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INVESTED_IN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840480" y="1051560"/>
            <a:ext cx="1463040" cy="594360"/>
          </a:xfrm>
          <a:prstGeom prst="rect">
            <a:avLst/>
          </a:prstGeom>
          <a:solidFill>
            <a:srgbClr val="1A223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0" y="10515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국민연금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1143000"/>
            <a:ext cx="1463040" cy="411480"/>
          </a:xfrm>
          <a:prstGeom prst="rect">
            <a:avLst/>
          </a:prstGeom>
          <a:solidFill>
            <a:srgbClr val="FFD166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11430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INVESTED_IN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406640" y="1051560"/>
            <a:ext cx="1463040" cy="594360"/>
          </a:xfrm>
          <a:prstGeom prst="rect">
            <a:avLst/>
          </a:prstGeom>
          <a:solidFill>
            <a:srgbClr val="1A223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06640" y="10515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SK하이닉스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64792" y="11430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86600" y="11430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1920240"/>
            <a:ext cx="8229600" cy="21031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201168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⭐ 2-hop: 삼성전자 투자기관의 다른 투자처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(c1:Company {name: '삼성전자'})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&lt;-[:INVESTED_IN]-(i:Investor)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-[:INVESTED_IN]-&gt;(c2:Company)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c1 &lt;&gt; c2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i.name AS 투자기관, c2.name AS 다른투자처;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국민연금 | SK하이닉스  ← 벡터 RAG로는 불가능했던 답!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06D6A0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RAG로 불가능했던 질문이, Cypher 한 줄로 답이 나옵니다.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순간을 기억하세요. 이게 GraphRAG의 존재 이유입니다.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 Milestone 달성!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371600" y="2468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노드 7개 + 관계 5개의 미니 Knowledge Graph 생성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37160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벡터 RAG 한계를 이해하고, Multi-hop 쿼리 체험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71600" y="3383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온톨로지, LPG, 6레이어 프레임워크 개념 습득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3840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"나도 그래프 DB를 쓸 수 있구나!" 자신감 확보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solidFill>
            <a:srgbClr val="1A223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188720" y="41148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  </a:t>
            </a:r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"직접 해봐야 안다" — 수작업 KG (2시간) ⭐⭐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1: 왜 GraphRAG인가?</dc:title>
  <dc:subject>PptxGenJS Presentation</dc:subject>
  <dc:creator>Root Bricks Co., Ltd.</dc:creator>
  <cp:lastModifiedBy>Root Bricks Co., Ltd.</cp:lastModifiedBy>
  <cp:revision>1</cp:revision>
  <dcterms:created xsi:type="dcterms:W3CDTF">2026-02-07T01:16:12Z</dcterms:created>
  <dcterms:modified xsi:type="dcterms:W3CDTF">2026-02-07T01:16:12Z</dcterms:modified>
</cp:coreProperties>
</file>